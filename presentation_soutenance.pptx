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73152" cy="41148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Architecture Zero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4DD9F7"/>
                </a:solidFill>
              </a:rPr>
              <a:t>pour les API Bancaires Ouvertes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ED0"/>
                </a:solidFill>
              </a:rPr>
              <a:t>Conception et validation d'une architecture de sécurité conforme NIST SP 800-207
intégrant mTLS, OAuth2/OIDC, SIEM/SOAR et un score dynamique Tᴅᴇᴄᴀʏ pour l'Open Banking DSP2.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60520"/>
            <a:ext cx="1078992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D0"/>
                </a:solidFill>
              </a:rPr>
              <a:t>ÉTUDIANTE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98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Dalel AKREMI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251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D0"/>
                </a:solidFill>
              </a:rPr>
              <a:t>ENCADRANT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498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Dr. Akram BELAZI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51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D0"/>
                </a:solidFill>
              </a:rPr>
              <a:t>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498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Master MPSSI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251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BED0"/>
                </a:solidFill>
              </a:rPr>
              <a:t>ÉTABLISSEMENT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4988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ISIMG — Université de Gabès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9200"/>
            <a:ext cx="1280160" cy="347472"/>
          </a:xfrm>
          <a:prstGeom prst="rect">
            <a:avLst/>
          </a:prstGeom>
          <a:solidFill>
            <a:srgbClr val="07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07492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8FF"/>
                </a:solidFill>
              </a:rPr>
              <a:t>Zero Trust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93392" y="5029200"/>
            <a:ext cx="1581912" cy="347472"/>
          </a:xfrm>
          <a:prstGeom prst="rect">
            <a:avLst/>
          </a:prstGeom>
          <a:solidFill>
            <a:srgbClr val="072A50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66544" y="5074920"/>
            <a:ext cx="1490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542"/>
                </a:solidFill>
              </a:rPr>
              <a:t>mTLS · OAuth2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39896" y="5029200"/>
            <a:ext cx="1380744" cy="347472"/>
          </a:xfrm>
          <a:prstGeom prst="rect">
            <a:avLst/>
          </a:prstGeom>
          <a:solidFill>
            <a:srgbClr val="072A50"/>
          </a:solidFill>
          <a:ln w="101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3048" y="5074920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676"/>
                </a:solidFill>
              </a:rPr>
              <a:t>SIEM / SOAR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5232" y="5029200"/>
            <a:ext cx="1179576" cy="347472"/>
          </a:xfrm>
          <a:prstGeom prst="rect">
            <a:avLst/>
          </a:prstGeom>
          <a:solidFill>
            <a:srgbClr val="072A5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4" y="5074920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C8FF"/>
                </a:solidFill>
              </a:rPr>
              <a:t>OWASP ZAP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5029200"/>
            <a:ext cx="1380744" cy="347472"/>
          </a:xfrm>
          <a:prstGeom prst="rect">
            <a:avLst/>
          </a:prstGeom>
          <a:solidFill>
            <a:srgbClr val="072A50"/>
          </a:solidFill>
          <a:ln w="10160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5074920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542"/>
                </a:solidFill>
              </a:rPr>
              <a:t>DSP2 / PSD2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Open Banking &amp; Directive DSP2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Pourquoi l'ouverture des banques crée un défi de sécurité inédit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5669280" cy="2240280"/>
          </a:xfrm>
          <a:prstGeom prst="rect">
            <a:avLst/>
          </a:prstGeom>
          <a:solidFill>
            <a:srgbClr val="0D2247"/>
          </a:solidFill>
          <a:ln w="9525">
            <a:solidFill>
              <a:srgbClr val="B0B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8745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0BED0"/>
                </a:solidFill>
              </a:rPr>
              <a:t>🏦 La banque d'hier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21992"/>
            <a:ext cx="5440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Réseau fermé et cloisonné
• Accès via le portail officiel uniquement
• Les pare-feux périmètriques suffisaient
• Aucune surface d'entrée externe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783080"/>
            <a:ext cx="5669280" cy="2240280"/>
          </a:xfrm>
          <a:prstGeom prst="rect">
            <a:avLst/>
          </a:prstGeom>
          <a:solidFill>
            <a:srgbClr val="102A52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8745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📱 La banque aujourd'hui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221992"/>
            <a:ext cx="5440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DSP2 oblige les banques à ouvrir leurs API
• Les TPP (Third Party Providers) doivent se connecter
• Accès externe, public et automatisé 24h/24
• Ecosystème d'applications partenaires agréées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5669280" cy="2240280"/>
          </a:xfrm>
          <a:prstGeom prst="rect">
            <a:avLst/>
          </a:prstGeom>
          <a:solidFill>
            <a:srgbClr val="200808"/>
          </a:solidFill>
          <a:ln w="9525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429768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252"/>
                </a:solidFill>
              </a:rPr>
              <a:t>⚠️ La nouvelle surface d'attaque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645152"/>
            <a:ext cx="5440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Force brute, vol de token JWT
• Failles BOLA et BFLA
• Abus de débit (DDoS volumétrique)
• Usurpation d'identité TPP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206240"/>
            <a:ext cx="5669280" cy="2240280"/>
          </a:xfrm>
          <a:prstGeom prst="rect">
            <a:avLst/>
          </a:prstGeom>
          <a:solidFill>
            <a:srgbClr val="041E10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429768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🛡️ Notre réponse : Zero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4645152"/>
            <a:ext cx="5440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NIST SP 800-207 : «Ne jamais faire confiance»
• Chaque requête : authentifiée + autorisée + auditée
• Aucun acteur interne considéré comme de confiance
• Vérification continue et systématique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PROBLÉMATIQUE &amp;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Comment ouvrir sans exposer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Trois défis fondamentaux à résoudre simultanément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3657600" cy="1645920"/>
          </a:xfrm>
          <a:prstGeom prst="rect">
            <a:avLst/>
          </a:prstGeom>
          <a:solidFill>
            <a:srgbClr val="071E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8FF"/>
                </a:solidFill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41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Défi 1
Identité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70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Comment garantir
qu'un TPP est légitime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657600" cy="1645920"/>
          </a:xfrm>
          <a:prstGeom prst="rect">
            <a:avLst/>
          </a:prstGeom>
          <a:solidFill>
            <a:srgbClr val="071E38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476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542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41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Défi 2
Détection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70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Comment bloquer
une attaque à temps 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657600" cy="1645920"/>
          </a:xfrm>
          <a:prstGeom prst="rect">
            <a:avLst/>
          </a:prstGeom>
          <a:solidFill>
            <a:srgbClr val="071E3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9476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414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Défi 3
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70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Comment sécuriser
sans dégrader l'UX 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11880"/>
            <a:ext cx="11430000" cy="2880360"/>
          </a:xfrm>
          <a:prstGeom prst="rect">
            <a:avLst/>
          </a:prstGeom>
          <a:solidFill>
            <a:srgbClr val="0D2247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03320"/>
            <a:ext cx="11201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🎯 Objectifs du projet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14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Mettre en œuvre mTLS + OAuth2 PKCE pour l'authentification mutuelle client-serveur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3659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Implémenter un moteur SOAR à décroissance temporelle T_decay pour la détection comportementale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8523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Valider la sécurité via audit DAST OWASP ZAP (test en boîte noire sur l'API)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18795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1148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Respecter la parité de performance DSP2 (RTS UE 2018/389 Art. 32/36)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73659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663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Concevoir une architecture conteneurisée reproductible sous Docker Compose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285232"/>
            <a:ext cx="109728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212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Assurer la conformité aux référentiels STRIDE, RBAC, FAPI 1.0 Advanced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Architecture Globale — 4 Réseaux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Segmentation hermétique Zero Trust — aucune communication non autorisée entre zones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623560" cy="2331720"/>
          </a:xfrm>
          <a:prstGeom prst="rect">
            <a:avLst/>
          </a:prstGeom>
          <a:solidFill>
            <a:srgbClr val="200606"/>
          </a:solidFill>
          <a:ln w="9525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623560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74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252"/>
                </a:solidFill>
              </a:rPr>
              <a:t>🌐 DMZ — frontend_tier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2199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NGINX (ports 80 → 443)
• TLS 1.3 + mTLS obligatoire TPP
• Rate limiting : 10 req/s
• SEUL réseau exposé à Internet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623560" cy="2331720"/>
          </a:xfrm>
          <a:prstGeom prst="rect">
            <a:avLst/>
          </a:prstGeom>
          <a:solidFill>
            <a:srgbClr val="102A52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6235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874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⚙️ Applicatif — backend_tier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22199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FastAPI (8000) — Logique métier
• Flask (5000) — Frontend web
• Keycloak (8080) — IAM / SSO
• Threat Monitor · SecurityState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23560" cy="2331720"/>
          </a:xfrm>
          <a:prstGeom prst="rect">
            <a:avLst/>
          </a:prstGeom>
          <a:solidFill>
            <a:srgbClr val="1A1404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562356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343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🗄️ Données — data_tier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6908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MongoDB (27017) — Données bancaires
• PostgreSQL (5432) — IAM Keycloak
• internal: true → Zéro accès externe
• Couche la plus protégée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251960"/>
            <a:ext cx="5623560" cy="2331720"/>
          </a:xfrm>
          <a:prstGeom prst="rect">
            <a:avLst/>
          </a:prstGeom>
          <a:solidFill>
            <a:srgbClr val="041A0C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251960"/>
            <a:ext cx="56235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4343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📡 Supervision — monitoring_tier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46908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Filebeat + Logstash (5044)
• Elasticsearch (9200)
• Kibana (5601) — Dashboards SIEM
• Réseau dédié isolation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SÉCURITÉ TRANSPORT &amp; IDENTITÉ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Les 3 Gardiens du Système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Toute requête franchit obligatoirement les 3 niveaux de contrôle successifs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108960" cy="1828800"/>
          </a:xfrm>
          <a:prstGeom prst="rect">
            <a:avLst/>
          </a:prstGeom>
          <a:solidFill>
            <a:srgbClr val="0D2247"/>
          </a:solidFill>
          <a:ln w="9525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108960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Gardien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70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5252"/>
                </a:solidFill>
              </a:rPr>
              <a:t>NGINX · DMZ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8094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0"/>
                </a:solidFill>
              </a:rPr>
              <a:t>mTLS · TLS 1.3
Rate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737360"/>
            <a:ext cx="3108960" cy="1828800"/>
          </a:xfrm>
          <a:prstGeom prst="rect">
            <a:avLst/>
          </a:prstGeom>
          <a:solidFill>
            <a:srgbClr val="0D2247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108960" cy="45720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774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Gardien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670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C542"/>
                </a:solidFill>
              </a:rPr>
              <a:t>Keycloak · IAM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98094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0"/>
                </a:solidFill>
              </a:rPr>
              <a:t>2FA · OAuth2
JWT RS256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737360"/>
            <a:ext cx="3108960" cy="1828800"/>
          </a:xfrm>
          <a:prstGeom prst="rect">
            <a:avLst/>
          </a:prstGeom>
          <a:solidFill>
            <a:srgbClr val="0D2247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737360"/>
            <a:ext cx="310896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87451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7744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Gardien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700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C8FF"/>
                </a:solidFill>
              </a:rPr>
              <a:t>FastAPI ·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8094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ED0"/>
                </a:solidFill>
              </a:rPr>
              <a:t>RBAC · Scopes
SOAR · Audit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49039"/>
            <a:ext cx="5623560" cy="2697480"/>
          </a:xfrm>
          <a:prstGeom prst="rect">
            <a:avLst/>
          </a:prstGeom>
          <a:solidFill>
            <a:srgbClr val="0D2247"/>
          </a:solidFill>
          <a:ln w="9525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8404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252"/>
                </a:solidFill>
              </a:rPr>
              <a:t>🌐 mTLS — Authentification Mutuelle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4187951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Contrairement à HTTPS standard, le mTLS exige que
• le TPP présente son propre certificat X.509 signé
• par la CA privée de la banque.
• 
• Sans certificat valide → HTTP 400 immédiat
• Aucune logique applicative impliquée.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749039"/>
            <a:ext cx="5623560" cy="2697480"/>
          </a:xfrm>
          <a:prstGeom prst="rect">
            <a:avLst/>
          </a:prstGeom>
          <a:solidFill>
            <a:srgbClr val="0D2247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840479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🔑 2FA — SCA conforme DSP2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1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Parcours nominal : OTP 6 chiffres par email (5 min)
• Parcours alternatif : TOTP RFC 6238 (Google Auth, 30s)
• 
• JWT signé RS256, validité 15 minutes
• Validation stateless via clé publique Keycloak
• Aucun secret IAM dans le modèle métier FastAPI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INNOVATION — DÉFENSE ACTIVE SOAR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Le Moteur de Détection T_decay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Score dynamique de menace à décroissance temporelle exponentielle — demi-vie 120 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1430000" cy="685800"/>
          </a:xfrm>
          <a:prstGeom prst="rect">
            <a:avLst/>
          </a:prstGeom>
          <a:solidFill>
            <a:srgbClr val="031022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DD9F7"/>
                </a:solidFill>
              </a:rPr>
              <a:t>T_decay(x, t)  =  T(x, t_last) · e^(−λ·(t − t_last))  +  w(e_current)          |          λ = ln(2)/120 ≈ 0,00578 s⁻¹   (demi-vie = 120 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51760"/>
            <a:ext cx="5623560" cy="3703320"/>
          </a:xfrm>
          <a:prstGeom prst="rect">
            <a:avLst/>
          </a:prstGeom>
          <a:solidFill>
            <a:srgbClr val="0D2247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743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🧮 Démonstration — Force brute (w = 1,0, Δt = 5 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t =  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127248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T₁ = 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94176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t =  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694176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T₂ = 1,972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61104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t = 10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61104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ED0"/>
                </a:solidFill>
              </a:rPr>
              <a:t>T₃ = 2,915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t = 15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28032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5252"/>
                </a:solidFill>
              </a:rPr>
              <a:t>T₄ = 3,832 ≥ 3,0  →  ⚡ ALERTE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C8FF"/>
                </a:solidFill>
              </a:rPr>
              <a:t>Seuil S = 3,0   |   Minuteur SOC = 30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5623560" cy="3703320"/>
          </a:xfrm>
          <a:prstGeom prst="rect">
            <a:avLst/>
          </a:prstGeom>
          <a:solidFill>
            <a:srgbClr val="0D2247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743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📊 Validation — N = 1 000 sessions de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27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Exactitude (Accuracy)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12724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E676"/>
                </a:solidFill>
              </a:rPr>
              <a:t>99,4 %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584448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Précision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657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E676"/>
                </a:solidFill>
              </a:rPr>
              <a:t>98,02 %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14800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879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Rappel (Recall)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18795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E676"/>
                </a:solidFill>
              </a:rPr>
              <a:t>99,00 %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45152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71830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F1-Score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71830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E676"/>
                </a:solidFill>
              </a:rPr>
              <a:t>98,51 %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175504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2486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Faux Positifs (FP)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24865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C542"/>
                </a:solidFill>
              </a:rPr>
              <a:t>4 / 800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705856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7790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Faux Négatifs (FN)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7790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5C542"/>
                </a:solidFill>
              </a:rPr>
              <a:t>2 / 200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6236208"/>
            <a:ext cx="5257800" cy="10972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SUPERVISION &amp; JOURNALISATION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Pile SIEM / ELK &amp; Traçabilité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Collecte, corrélation et alerte en temps réel via 4 composants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5486400" cy="3017520"/>
          </a:xfrm>
          <a:prstGeom prst="rect">
            <a:avLst/>
          </a:prstGeom>
          <a:solidFill>
            <a:srgbClr val="0D2247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🔄 Pipeline d'ingestion SIEM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95144"/>
            <a:ext cx="320040" cy="320040"/>
          </a:xfrm>
          <a:prstGeom prst="rect">
            <a:avLst/>
          </a:prstGeom>
          <a:solidFill>
            <a:srgbClr val="1A4FA0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768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Filebeat — Collecte security_audit.log et logs NGINX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16936"/>
            <a:ext cx="320040" cy="320040"/>
          </a:xfrm>
          <a:prstGeom prst="rect">
            <a:avLst/>
          </a:prstGeom>
          <a:solidFill>
            <a:srgbClr val="1A4FA0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62072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Logstash — Parsing Grok, enrichissement, normalisation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38728"/>
            <a:ext cx="320040" cy="320040"/>
          </a:xfrm>
          <a:prstGeom prst="rect">
            <a:avLst/>
          </a:prstGeom>
          <a:solidFill>
            <a:srgbClr val="1A4FA0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83864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Elasticsearch — Indexation et stockage haute performance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320040" cy="320040"/>
          </a:xfrm>
          <a:prstGeom prst="rect">
            <a:avLst/>
          </a:prstGeom>
          <a:solidFill>
            <a:srgbClr val="1A4FA0"/>
          </a:solidFill>
          <a:ln w="63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422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C8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05656"/>
            <a:ext cx="4709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Kibana — Tableaux de bord et visualisations SIEM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1737360"/>
            <a:ext cx="5852160" cy="3017520"/>
          </a:xfrm>
          <a:prstGeom prst="rect">
            <a:avLst/>
          </a:prstGeom>
          <a:solidFill>
            <a:srgbClr val="0D2247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182880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⚡ Réaction SOAR automatisée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176272"/>
            <a:ext cx="56235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T_decay ≥ 3,0 → alerte SSE CRITICAL immédiate
• Minuteur 30 secondes affiché sur le dashboard SOC
• Blocage IP automatique si pas d'annulation SOC
• Délai de réaction total : &lt; 1 seconde
• Durée d'isolation : t_unblock = 15 minutes
• IP bloquée → HTTP 403 sur toutes requêtes suivantes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92040"/>
            <a:ext cx="11521440" cy="1737360"/>
          </a:xfrm>
          <a:prstGeom prst="rect">
            <a:avLst/>
          </a:prstGeom>
          <a:solidFill>
            <a:srgbClr val="0D2247"/>
          </a:solidFill>
          <a:ln w="9525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983480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📋 Sources de journalisation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21808"/>
            <a:ext cx="256032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349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5321808"/>
            <a:ext cx="219456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53492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Format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5321808"/>
            <a:ext cx="301752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53492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Destination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5321808"/>
            <a:ext cx="347472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53492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Usage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961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Middleware 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5596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Texte structuré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596128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security_audit.log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5961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Threat Monitor + ELK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4301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NGINX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5843016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Combined / SIEM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57800" y="5843016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nginx_logs/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84301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Surveillance réseau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089904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Logger métier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63240" y="6089904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JSON Lines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6089904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MongoDB + fichier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608990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Traçabilité &amp; 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336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Keycloak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6336792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Événements 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633679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PostgreSQL /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63367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D0"/>
                </a:solidFill>
              </a:rPr>
              <a:t>Audit SSO / 2FA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RÉSULTATS — AUDIT DE 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Audit DAST — OWASP ZAP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Test dynamique en boîte noire — zap-api-scan.py sur OpenAPI 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3566160" cy="1554480"/>
          </a:xfrm>
          <a:prstGeom prst="rect">
            <a:avLst/>
          </a:prstGeom>
          <a:solidFill>
            <a:srgbClr val="071E3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Vulnérabilités
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24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Injection SQL, XSS, RCE…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737360"/>
            <a:ext cx="3566160" cy="1554480"/>
          </a:xfrm>
          <a:prstGeom prst="rect">
            <a:avLst/>
          </a:prstGeom>
          <a:solidFill>
            <a:srgbClr val="071E3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9019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957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Vulnérabilités
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24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BOLA, BFLA, Mass Assignment…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3749039" cy="1554480"/>
          </a:xfrm>
          <a:prstGeom prst="rect">
            <a:avLst/>
          </a:prstGeom>
          <a:solidFill>
            <a:srgbClr val="071E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9019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8FF"/>
                </a:solidFill>
              </a:rPr>
              <a:t>Top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39572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OWASP API Security
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7249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Toutes les entrées vérifiées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56432"/>
            <a:ext cx="5486400" cy="3246120"/>
          </a:xfrm>
          <a:prstGeom prst="rect">
            <a:avLst/>
          </a:prstGeom>
          <a:solidFill>
            <a:srgbClr val="0D2247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5478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🔍 Protocole en 2 niveaux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895344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NIVEAU 1 — Audit TLS/mTLS — Port 443
•   Vérification TLS 1.3, PFS, rejet certificat invalide
•   HTTP 400 sur toute connexion sans certificat client
• 
• NIVEAU 2 — Audit DAST applicatif
•   zap-api-scan.py -t …/openapi.json -f openapi
•   Injections actives sur la logique métier interne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456432"/>
            <a:ext cx="5715000" cy="3246120"/>
          </a:xfrm>
          <a:prstGeom prst="rect">
            <a:avLst/>
          </a:prstGeom>
          <a:solidFill>
            <a:srgbClr val="0D2247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3547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🛡️ Couverture OWASP API Top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3895344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BOLA (API1) — Validation RBAC par scope JWT
• Auth brisée (API2) — mTLS + 2FA + Token RS256
• Injection (API8) — Typage strict Pydantic
• Rate Limit (API4) — NGINX + SlowAPI
• Logging (API10) — Journalisation multicouche ELK
• Toutes les failles testées sans exception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RÉSULTATS —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Banc d'Essai de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Conformité RTS (UE) 2018/389 Art. 32/36 — Parité de service DSP2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2788920" cy="1691640"/>
          </a:xfrm>
          <a:prstGeom prst="rect">
            <a:avLst/>
          </a:prstGeom>
          <a:solidFill>
            <a:srgbClr val="071E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8FF"/>
                </a:solidFill>
              </a:rPr>
              <a:t>72,3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ms
Latence totale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7249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vs seuil SLA 200 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2788920" cy="1691640"/>
          </a:xfrm>
          <a:prstGeom prst="rect">
            <a:avLst/>
          </a:prstGeom>
          <a:solidFill>
            <a:srgbClr val="071E38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90195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542"/>
                </a:solidFill>
              </a:rPr>
              <a:t>34,1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ms
Surcoût sécurité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249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mTLS + JWT + SIEM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37360"/>
            <a:ext cx="2788920" cy="1691640"/>
          </a:xfrm>
          <a:prstGeom prst="rect">
            <a:avLst/>
          </a:prstGeom>
          <a:solidFill>
            <a:srgbClr val="071E3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90195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C8FF"/>
                </a:solidFill>
              </a:rPr>
              <a:t>13,8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req/s
Débit séquentiel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249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c = 1 client (1/0,0723)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737360"/>
            <a:ext cx="2788920" cy="1691640"/>
          </a:xfrm>
          <a:prstGeom prst="rect">
            <a:avLst/>
          </a:prstGeom>
          <a:solidFill>
            <a:srgbClr val="071E3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901952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E676"/>
                </a:solidFill>
              </a:rPr>
              <a:t>465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req/s
Débit saturé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249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D0"/>
                </a:solidFill>
              </a:rPr>
              <a:t>c = 35 (Loi de Little)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593592"/>
            <a:ext cx="11521440" cy="3154680"/>
          </a:xfrm>
          <a:prstGeom prst="rect">
            <a:avLst/>
          </a:prstGeom>
          <a:solidFill>
            <a:srgbClr val="0D2247"/>
          </a:solidFill>
          <a:ln w="9525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685032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D9F7"/>
                </a:solidFill>
              </a:rPr>
              <a:t>📐 Méthode de mesure — Loi de Little (X = N / 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096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Scénario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4069080"/>
            <a:ext cx="173736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40965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Concurrence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069080"/>
            <a:ext cx="173736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409651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Latence (R)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069080"/>
            <a:ext cx="182880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Débit (X)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69080"/>
            <a:ext cx="3474720" cy="274320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40965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8FF"/>
                </a:solidFill>
              </a:rPr>
              <a:t>Méthode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3434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Séquentiel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4343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c =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3434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72,3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343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13,8 req/s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343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1 / 0,0723 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27448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754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Charge concurrente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7548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c = 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475488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75,2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37960" y="475488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465 req/s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4754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35 / 0,0752 s (Little)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138928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166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Surcoût Threat Monitor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63240" y="51663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51663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4,2 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51663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51663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Quasi-invisible utilisateur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550408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943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D0"/>
                </a:solidFill>
              </a:rPr>
              <a:t>⚖️  L'article 36 du RTS 2018/389 impose la parité et la comparabilité des performances — il ne fixe pas de valeur absolue à 200 ms. Ce seuil est le benchmark opérationnel OBIE / Berlin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MODÈLE DE DONNÉES &amp; CONFORMITÉ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Modèle de Données Sécurisé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Séparation IAM / Métier — Conformité PCI-DSS &amp; RGPD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623560" cy="2331720"/>
          </a:xfrm>
          <a:prstGeom prst="rect">
            <a:avLst/>
          </a:prstGeom>
          <a:solidFill>
            <a:srgbClr val="181002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623560" cy="54864"/>
          </a:xfrm>
          <a:prstGeom prst="rect">
            <a:avLst/>
          </a:prstGeom>
          <a:solidFill>
            <a:srgbClr val="F5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74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🗄️ Couche IAM — Keycloak +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22199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Hachage argon2/bcrypt — aucun mot de passe en clair
• Aucun password_hash dans le modèle métier FastAPI
• Gestion sessions, tokens et révocations dans Keycloak
• Consentement : portées, expiration, révocabilité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623560" cy="2331720"/>
          </a:xfrm>
          <a:prstGeom prst="rect">
            <a:avLst/>
          </a:prstGeom>
          <a:solidFill>
            <a:srgbClr val="102A52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6235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874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💳 Couche Métier — FastAPI + MongoDB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22199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Typage Decimal (Pydantic) — zéro erreur d'arrondi
• Aucun CVV stocké — conformité PCI-DSS niveau 1
• Transactions ACID multi-documents MongoDB
• Masquage du PAN en réponse API (****1234)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23560" cy="2331720"/>
          </a:xfrm>
          <a:prstGeom prst="rect">
            <a:avLst/>
          </a:prstGeom>
          <a:solidFill>
            <a:srgbClr val="041228"/>
          </a:solidFill>
          <a:ln w="9525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251960"/>
            <a:ext cx="56235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343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🔗 Non-répudiation — 4 piliers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6908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1. Merkle Hash Chain : H_i = SHA-256(H_{i-1} || Entrée_i)
• 2. Signature ECDSA/RSA-PSS via HSM FIPS 140-2/3
• 3. Horodatage TSA certifié RFC 3161 / eIDAS
• 4. Stockage WORM — AWS S3 Object Lock Compliance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4251960"/>
            <a:ext cx="5623560" cy="2331720"/>
          </a:xfrm>
          <a:prstGeom prst="rect">
            <a:avLst/>
          </a:prstGeom>
          <a:solidFill>
            <a:srgbClr val="031408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4251960"/>
            <a:ext cx="562356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4343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🚀 Perspectives industrielles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469087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D0"/>
                </a:solidFill>
              </a:rPr>
              <a:t>• Redis — Registre IP partagé multi-instances
• eBPF / iptables — Blocage au niveau noyau Linux
• Kubernetes — Cluster HA multi-nœuds
• Module IA LLM — Détection patterns distribués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SYNTHÈSE DES RÉSULTATS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Chiffres Clés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Métriques validées expérimentalement sur le prototype conteneurisé Docker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11521440" cy="5029200"/>
          </a:xfrm>
          <a:prstGeom prst="rect">
            <a:avLst/>
          </a:prstGeom>
          <a:solidFill>
            <a:srgbClr val="0D2247"/>
          </a:solidFill>
          <a:ln w="9525">
            <a:solidFill>
              <a:srgbClr val="1A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017520" cy="347472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Métrique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011680" cy="347472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65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Valeur mesurée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828800"/>
            <a:ext cx="3840480" cy="347472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32120" y="18653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Référence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828800"/>
            <a:ext cx="2468880" cy="347472"/>
          </a:xfrm>
          <a:prstGeom prst="rect">
            <a:avLst/>
          </a:prstGeom>
          <a:solidFill>
            <a:srgbClr val="1A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8653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FF"/>
                </a:solidFill>
              </a:rPr>
              <a:t>Résultat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17627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Latence API totale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762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72,3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1762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Benchmark SLA 200 ms (OBIE)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1762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Très largement conforme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679192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70662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Débit séquentiel (c=1)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7066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13,8 req/s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70662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1 / 0,0723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70662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Cohérent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09544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36976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Débit saturé (c=35)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2369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465 req/s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23697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Loi de Little X = N/R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23697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Scalable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39896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7673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Surcoût sécurité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76732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C542"/>
                </a:solidFill>
              </a:rPr>
              <a:t>34,1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7673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mTLS + JWT + SIEM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76732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Acceptable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270248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97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F1-Score détection SOAR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98,51 %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2976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N = 1 000 sessions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2976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Quasi-optimal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800600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8280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Délai de réaction SOAR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82803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&lt; 1 seconde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828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Dès seuil S ≥ 3,0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8280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Temps réel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330952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358384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Audit OWASP ZAP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3583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0 High, 0 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0" y="535838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D0"/>
                </a:solidFill>
              </a:rPr>
              <a:t>OWASP API Top 10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358384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676"/>
                </a:solidFill>
              </a:rPr>
              <a:t>✅ Aucune faille critique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861304"/>
            <a:ext cx="11338560" cy="9144"/>
          </a:xfrm>
          <a:prstGeom prst="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9728"/>
            <a:ext cx="2560320" cy="320040"/>
          </a:xfrm>
          <a:prstGeom prst="rect">
            <a:avLst/>
          </a:prstGeom>
          <a:solidFill>
            <a:srgbClr val="004070"/>
          </a:solidFill>
          <a:ln w="1016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C8FF"/>
                </a:solidFill>
              </a:rPr>
              <a:t>CONCLUSION &amp;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4DD9F7"/>
                </a:solidFill>
              </a:rPr>
              <a:t>Bilan &amp; 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527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BED0"/>
                </a:solidFill>
              </a:rPr>
              <a:t>Ce que le prototype démontre et les prochaines étapes vers la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5532120" cy="3200400"/>
          </a:xfrm>
          <a:prstGeom prst="rect">
            <a:avLst/>
          </a:prstGeom>
          <a:solidFill>
            <a:srgbClr val="0D2247"/>
          </a:solidFill>
          <a:ln w="9525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288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✅ Contributions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176272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Architecture Zero Trust complète et reproductible
• mTLS + OAuth2 PKCE + 2FA — triple barrière
• Moteur SOAR T_decay : F1 = 98,51 %
• Audit DAST : 0 vulnérabilité High/Medium
• Latence 72,3 ms — parité DSP2 démontrée
• Conformité STRIDE, FAPI 1.0, PCI-DSS, RGPD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669280" cy="3200400"/>
          </a:xfrm>
          <a:prstGeom prst="rect">
            <a:avLst/>
          </a:prstGeom>
          <a:solidFill>
            <a:srgbClr val="0D2247"/>
          </a:solidFill>
          <a:ln w="9525">
            <a:solidFill>
              <a:srgbClr val="F5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182880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🚀 Perspectives industrielles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2176272"/>
            <a:ext cx="54406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ED0"/>
                </a:solidFill>
              </a:rPr>
              <a:t>• Redis — Registre IP partagé entre instances
• eBPF / iptables — Blocage noyau, zéro overhead
• Kubernetes — Cluster HA, réplication Keycloak + ES
• HSM FIPS 140-3 + RFC 3161 — Non-répudiation légale
• Module IA LLM + SIEM — patterns distribués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074920"/>
            <a:ext cx="11521440" cy="1005840"/>
          </a:xfrm>
          <a:prstGeom prst="rect">
            <a:avLst/>
          </a:prstGeom>
          <a:solidFill>
            <a:srgbClr val="031835"/>
          </a:solidFill>
          <a:ln w="1524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937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DD9F7"/>
                </a:solidFill>
              </a:rPr>
              <a:t>« Ne jamais faire confiance — Toujours vérifier — Automatiquement répondre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D0"/>
                </a:solidFill>
              </a:rPr>
              <a:t>Ce prototype démontre la faisabilité technique et réglementaire d'une architecture Zero Trust pour l'Open Banking DSP2.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